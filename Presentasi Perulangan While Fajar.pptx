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6400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4EB"/>
                </a:solidFill>
                <a:latin typeface="Aptos"/>
              </a:rPr>
              <a:t>ALGORITMA &amp; PEMROGRAMAN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583680" cy="1965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 i="0">
                <a:solidFill>
                  <a:srgbClr val="F5F8FF"/>
                </a:solidFill>
                <a:latin typeface="Aptos"/>
              </a:rPr>
              <a:t>PERULANGAN
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474720"/>
            <a:ext cx="62179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ACBBD3"/>
                </a:solidFill>
                <a:latin typeface="Aptos"/>
              </a:rPr>
              <a:t>Memahami logika pengulangan dalam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251960"/>
            <a:ext cx="4297680" cy="749808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4379976"/>
            <a:ext cx="237744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5F8FF"/>
                </a:solidFill>
                <a:latin typeface="Aptos"/>
              </a:rPr>
              <a:t>Fajar Irwansyah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681728"/>
            <a:ext cx="35661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ACBBD3"/>
                </a:solidFill>
                <a:latin typeface="Aptos"/>
              </a:rPr>
              <a:t>Teknik Informatika Sore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28800"/>
            <a:ext cx="3977639" cy="3063240"/>
          </a:xfrm>
          <a:prstGeom prst="roundRect">
            <a:avLst/>
          </a:prstGeom>
          <a:solidFill>
            <a:srgbClr val="070C1A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2057400"/>
            <a:ext cx="118872" cy="11887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36408" y="2057400"/>
            <a:ext cx="118872" cy="118872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37575" y="2057400"/>
            <a:ext cx="118872" cy="1188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9248" y="2578608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DD4EB"/>
                </a:solidFill>
                <a:latin typeface="Consolas"/>
              </a:rPr>
              <a:t>while i &lt;= 5: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063240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 i="0">
                <a:solidFill>
                  <a:srgbClr val="F5F8FF"/>
                </a:solidFill>
                <a:latin typeface="Consolas"/>
              </a:rPr>
              <a:t>    print(i)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547872"/>
            <a:ext cx="32918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0" i="0">
                <a:solidFill>
                  <a:srgbClr val="8B5CF6"/>
                </a:solidFill>
                <a:latin typeface="Consolas"/>
              </a:rPr>
              <a:t>    i = i + 1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4370832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ACBBD3"/>
                </a:solidFill>
                <a:latin typeface="Aptos"/>
              </a:rPr>
              <a:t>01  /  PRESENTASI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01 / PEMBUKA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Tujuan Pembelajaran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0698480" cy="768096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47672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DD4E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901952"/>
            <a:ext cx="6035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Memahami pengertian perulangan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947672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Apa itu looping dan while?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07208"/>
            <a:ext cx="10698480" cy="768096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7180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DD4E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26080"/>
            <a:ext cx="6035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Menjelaskan fungsi 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971800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Kapan pengulangan digunakan?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31336"/>
            <a:ext cx="10698480" cy="768096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995928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DD4E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950208"/>
            <a:ext cx="6035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Mengenali sintaks dan alur 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99592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Dari kondisi hingga berhenti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55464"/>
            <a:ext cx="10698480" cy="768096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020056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2DD4E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974336"/>
            <a:ext cx="6035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5F8FF"/>
                </a:solidFill>
                <a:latin typeface="Aptos"/>
              </a:rPr>
              <a:t>Membaca flowchart, pseudocode, dan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020056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Menghubungkan logika dengan kode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02 / PENGERTIAN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Apa Itu Perulangan While?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2DD4EB"/>
                </a:solidFill>
                <a:latin typeface="Aptos"/>
              </a:rPr>
              <a:t>Perulangan (looping)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5720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F5F8FF"/>
                </a:solidFill>
                <a:latin typeface="Aptos"/>
              </a:rPr>
              <a:t>Struktur kontrol untuk menjalankan satu atau beberapa instruksi secara berulang.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783080"/>
            <a:ext cx="5303520" cy="3474720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4297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8B5CF6"/>
                </a:solidFill>
                <a:latin typeface="Aptos"/>
              </a:rPr>
              <a:t>WHILE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42976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F5F8FF"/>
                </a:solidFill>
                <a:latin typeface="Aptos"/>
              </a:rPr>
              <a:t>Blok kode dijalankan selama kondisi bernilai True.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4389120" cy="777240"/>
          </a:xfrm>
          <a:prstGeom prst="roundRect">
            <a:avLst/>
          </a:prstGeom>
          <a:solidFill>
            <a:srgbClr val="070C1A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4187952"/>
            <a:ext cx="39776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4EB"/>
                </a:solidFill>
                <a:latin typeface="Aptos"/>
              </a:rPr>
              <a:t>Kondisi False → langsung berhenti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03 / MANFAAT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Fungsi dan Tujuan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3429000" cy="3063240"/>
          </a:xfrm>
          <a:prstGeom prst="roundRect">
            <a:avLst/>
          </a:prstGeom>
          <a:solidFill>
            <a:srgbClr val="101D39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12848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DD4E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Lebih ringkas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2788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ACBBD3"/>
                </a:solidFill>
                <a:latin typeface="Aptos"/>
              </a:rPr>
              <a:t>Tidak perlu menulis instruksi yang sama berulang kali.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920240"/>
            <a:ext cx="3429000" cy="3063240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2212848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8B5CF6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43200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Hemat waktu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520440"/>
            <a:ext cx="2788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ACBBD3"/>
                </a:solidFill>
                <a:latin typeface="Aptos"/>
              </a:rPr>
              <a:t>Mengotomatiskan proses yang dilakukan berulang.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920240"/>
            <a:ext cx="3429000" cy="3063240"/>
          </a:xfrm>
          <a:prstGeom prst="roundRect">
            <a:avLst/>
          </a:prstGeom>
          <a:solidFill>
            <a:srgbClr val="101D39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212848"/>
            <a:ext cx="594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4ADE8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743200"/>
            <a:ext cx="28803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5F8FF"/>
                </a:solidFill>
                <a:latin typeface="Aptos"/>
              </a:rPr>
              <a:t>Memproses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520440"/>
            <a:ext cx="278892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ACBBD3"/>
                </a:solidFill>
                <a:latin typeface="Aptos"/>
              </a:rPr>
              <a:t>Cocok untuk menu, input, dan validasi.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04 / KODE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Sintaks Dasar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3474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 i="0">
                <a:solidFill>
                  <a:srgbClr val="F5F8FF"/>
                </a:solidFill>
                <a:latin typeface="Aptos"/>
              </a:rPr>
              <a:t>Struktur while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6492240" cy="2468880"/>
          </a:xfrm>
          <a:prstGeom prst="roundRect">
            <a:avLst/>
          </a:prstGeom>
          <a:solidFill>
            <a:srgbClr val="070C1A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743200"/>
            <a:ext cx="53949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2DD4EB"/>
                </a:solidFill>
                <a:latin typeface="Consolas"/>
              </a:rPr>
              <a:t>while kondisi: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0128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F5F8FF"/>
                </a:solidFill>
                <a:latin typeface="Consolas"/>
              </a:rPr>
              <a:t>    # instruksi yang diulang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60"/>
            <a:ext cx="5486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8B5CF6"/>
                </a:solidFill>
                <a:latin typeface="Consolas"/>
              </a:rPr>
              <a:t>    # ubah keadaan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423160"/>
            <a:ext cx="3566160" cy="2468880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274320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FACC15"/>
                </a:solidFill>
                <a:latin typeface="Aptos"/>
              </a:rPr>
              <a:t>INGAT!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310128"/>
            <a:ext cx="27432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• Tanda : membuka blok
• Indentasi menentukan isi blok
• Kondisi harus bisa berubah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05 / ALUR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Bagaimana While Bekerja?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40280"/>
            <a:ext cx="2468880" cy="1874519"/>
          </a:xfrm>
          <a:prstGeom prst="roundRect">
            <a:avLst/>
          </a:prstGeom>
          <a:solidFill>
            <a:srgbClr val="101D39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2487168"/>
            <a:ext cx="438912" cy="438912"/>
          </a:xfrm>
          <a:prstGeom prst="ellipse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569464"/>
            <a:ext cx="182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A1226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127248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Periksa kondisi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73075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True atau False?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97180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2DD4EB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240280"/>
            <a:ext cx="2468880" cy="1874519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749039" y="2487168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67911" y="2569464"/>
            <a:ext cx="182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A1226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127248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Jalankan blok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373075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Jika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97180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2DD4E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240280"/>
            <a:ext cx="2468880" cy="1874519"/>
          </a:xfrm>
          <a:prstGeom prst="roundRect">
            <a:avLst/>
          </a:prstGeom>
          <a:solidFill>
            <a:srgbClr val="101D39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29400" y="2487168"/>
            <a:ext cx="438912" cy="438912"/>
          </a:xfrm>
          <a:prstGeom prst="ellipse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8272" y="2569464"/>
            <a:ext cx="182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A1226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7688" y="3127248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Perbarui variabel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73075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Agar kondisi berubah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2971800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 i="0">
                <a:solidFill>
                  <a:srgbClr val="2DD4EB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80" y="2240280"/>
            <a:ext cx="2468880" cy="1874519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509759" y="2487168"/>
            <a:ext cx="438912" cy="438912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28632" y="2569464"/>
            <a:ext cx="1828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1" i="0">
                <a:solidFill>
                  <a:srgbClr val="0A1226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127248"/>
            <a:ext cx="2057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5F8FF"/>
                </a:solidFill>
                <a:latin typeface="Aptos"/>
              </a:rPr>
              <a:t>Periksa kembali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3730752"/>
            <a:ext cx="2057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ACBBD3"/>
                </a:solidFill>
                <a:latin typeface="Aptos"/>
              </a:rPr>
              <a:t>Ulangi sampai False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46320"/>
            <a:ext cx="9875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2DD4EB"/>
                </a:solidFill>
                <a:latin typeface="Aptos"/>
              </a:rPr>
              <a:t>Jika kondisi False, program keluar dari perulangan.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06 / VISUALISASI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Flowchart Perulangan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2046" y="5276616"/>
            <a:ext cx="2560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 dirty="0">
                <a:solidFill>
                  <a:srgbClr val="2DD4EB"/>
                </a:solidFill>
                <a:latin typeface="Aptos"/>
              </a:rPr>
              <a:t>↻ </a:t>
            </a:r>
            <a:r>
              <a:rPr sz="1000" b="1" i="0" dirty="0" err="1">
                <a:solidFill>
                  <a:srgbClr val="2DD4EB"/>
                </a:solidFill>
                <a:latin typeface="Aptos"/>
              </a:rPr>
              <a:t>kembali</a:t>
            </a:r>
            <a:r>
              <a:rPr sz="1000" b="1" i="0" dirty="0">
                <a:solidFill>
                  <a:srgbClr val="2DD4EB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2DD4EB"/>
                </a:solidFill>
                <a:latin typeface="Aptos"/>
              </a:rPr>
              <a:t>ke</a:t>
            </a:r>
            <a:r>
              <a:rPr sz="1000" b="1" i="0" dirty="0">
                <a:solidFill>
                  <a:srgbClr val="2DD4EB"/>
                </a:solidFill>
                <a:latin typeface="Aptos"/>
              </a:rPr>
              <a:t> </a:t>
            </a:r>
            <a:r>
              <a:rPr sz="1000" b="1" i="0" dirty="0" err="1">
                <a:solidFill>
                  <a:srgbClr val="2DD4EB"/>
                </a:solidFill>
                <a:latin typeface="Aptos"/>
              </a:rPr>
              <a:t>kondisi</a:t>
            </a:r>
            <a:endParaRPr sz="1000" b="1" i="0" dirty="0">
              <a:solidFill>
                <a:srgbClr val="2DD4EB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1540" y="5776722"/>
            <a:ext cx="10424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ACBBD3"/>
                </a:solidFill>
                <a:latin typeface="Aptos"/>
              </a:rPr>
              <a:t>YA → tampilkan angka lalu tambah i.  |  TIDAK → selesai.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B7B0379-F548-4FC2-8E54-E1F96B6EB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373076"/>
            <a:ext cx="4809744" cy="52550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07 / LOGIKA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Pseudocode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783080"/>
            <a:ext cx="6035040" cy="3977639"/>
          </a:xfrm>
          <a:prstGeom prst="roundRect">
            <a:avLst/>
          </a:prstGeom>
          <a:solidFill>
            <a:srgbClr val="070C1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2103120"/>
            <a:ext cx="5212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 dirty="0">
                <a:solidFill>
                  <a:srgbClr val="2DD4EB"/>
                </a:solidFill>
                <a:latin typeface="Consolas"/>
              </a:rPr>
              <a:t>MULAI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42032"/>
            <a:ext cx="3182815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i</a:t>
            </a: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←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80944"/>
            <a:ext cx="5212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SELAMA </a:t>
            </a:r>
            <a:r>
              <a:rPr sz="16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i</a:t>
            </a: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≤ 5 LAKUKAN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19856"/>
            <a:ext cx="5212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   TAMPILKAN </a:t>
            </a:r>
            <a:r>
              <a:rPr sz="16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i</a:t>
            </a:r>
            <a:endParaRPr sz="1600" b="0" i="0" dirty="0">
              <a:solidFill>
                <a:schemeClr val="tx2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858768"/>
            <a:ext cx="5212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   </a:t>
            </a:r>
            <a:r>
              <a:rPr sz="16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i</a:t>
            </a: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← </a:t>
            </a:r>
            <a:r>
              <a:rPr sz="16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i</a:t>
            </a:r>
            <a:r>
              <a:rPr sz="16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 + 1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297679"/>
            <a:ext cx="5212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chemeClr val="tx2">
                    <a:lumMod val="60000"/>
                    <a:lumOff val="40000"/>
                  </a:schemeClr>
                </a:solidFill>
                <a:latin typeface="Consolas"/>
              </a:rPr>
              <a:t>AKHIR SELAMA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36592"/>
            <a:ext cx="5212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 dirty="0">
                <a:solidFill>
                  <a:srgbClr val="2DD4EB"/>
                </a:solidFill>
                <a:latin typeface="Consolas"/>
              </a:rPr>
              <a:t>SELESAI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331720"/>
            <a:ext cx="3337560" cy="2514600"/>
          </a:xfrm>
          <a:prstGeom prst="roundRect">
            <a:avLst/>
          </a:prstGeom>
          <a:solidFill>
            <a:srgbClr val="101D39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0" y="2651760"/>
            <a:ext cx="2651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2DD4EB"/>
                </a:solidFill>
                <a:latin typeface="Aptos"/>
              </a:rPr>
              <a:t>Inti logika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246120"/>
            <a:ext cx="260604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Selama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i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≤ 5,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tampilkan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nilai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i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lalu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naikkan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nilainya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satu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 </a:t>
            </a:r>
            <a:r>
              <a:rPr sz="1500" b="0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angka</a:t>
            </a:r>
            <a:r>
              <a:rPr sz="1500" b="0" i="0" dirty="0">
                <a:solidFill>
                  <a:schemeClr val="tx2">
                    <a:lumMod val="60000"/>
                    <a:lumOff val="40000"/>
                  </a:schemeClr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08 / IMPLEMENTASI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Contoh Program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09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86791FC-104E-4F9D-9753-B2F5CBD7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005" y="1402514"/>
            <a:ext cx="2858315" cy="47890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3FC3BC-D863-41DD-92CC-DFD01D20F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369" y="1377648"/>
            <a:ext cx="2858315" cy="47671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BDC6D21-8C04-4649-894C-389FDA73F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484" y="1511040"/>
            <a:ext cx="5148991" cy="457201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7EB1631-CA8F-4396-B770-1170143F609F}"/>
              </a:ext>
            </a:extLst>
          </p:cNvPr>
          <p:cNvSpPr/>
          <p:nvPr/>
        </p:nvSpPr>
        <p:spPr>
          <a:xfrm>
            <a:off x="7655398" y="952259"/>
            <a:ext cx="2265602" cy="309068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Hasil </a:t>
            </a:r>
            <a:r>
              <a:rPr lang="en-US" dirty="0" err="1"/>
              <a:t>dari</a:t>
            </a:r>
            <a:r>
              <a:rPr lang="en-US" dirty="0"/>
              <a:t> Python</a:t>
            </a:r>
            <a:endParaRPr lang="en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09 / MEMAHAMI KODE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Penjelasan Baris demi Baris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10652760" cy="749808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98424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4EB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38528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onsolas"/>
              </a:rPr>
              <a:t>i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47672"/>
            <a:ext cx="6263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Membuat variabel i dengan nilai awal 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70632"/>
            <a:ext cx="10652760" cy="749808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4E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926080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onsolas"/>
              </a:rPr>
              <a:t>while i &lt;= 5: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35224"/>
            <a:ext cx="6263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Mengulang selama i kurang dari atau sama dengan 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58184"/>
            <a:ext cx="10652760" cy="749808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4E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13632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onsolas"/>
              </a:rPr>
              <a:t>print(i)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922776"/>
            <a:ext cx="6263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Menampilkan nilai i saat itu.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45736"/>
            <a:ext cx="10652760" cy="749808"/>
          </a:xfrm>
          <a:prstGeom prst="roundRect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946904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DD4EB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01184"/>
            <a:ext cx="2880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8B5CF6"/>
                </a:solidFill>
                <a:latin typeface="Consolas"/>
              </a:rPr>
              <a:t>i = i + 1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910328"/>
            <a:ext cx="6263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F5F8FF"/>
                </a:solidFill>
                <a:latin typeface="Aptos"/>
              </a:rPr>
              <a:t>Menaikkan i satu angka agar kondisi akhirnya False.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11 /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Kelebihan dan Hal yang Perlu Diwaspadai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20240"/>
            <a:ext cx="5029200" cy="3246120"/>
          </a:xfrm>
          <a:prstGeom prst="roundRect">
            <a:avLst/>
          </a:prstGeom>
          <a:solidFill>
            <a:srgbClr val="101D39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28600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4ADE80"/>
                </a:solidFill>
                <a:latin typeface="Aptos"/>
              </a:rPr>
              <a:t>KELEBIHAN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80360"/>
            <a:ext cx="40233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F5F8FF"/>
                </a:solidFill>
                <a:latin typeface="Aptos"/>
              </a:rPr>
              <a:t>Fleksibel ketika jumlah pengulangan bergantung pada kondisi.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20240"/>
            <a:ext cx="5029200" cy="3246120"/>
          </a:xfrm>
          <a:prstGeom prst="roundRect">
            <a:avLst/>
          </a:prstGeom>
          <a:solidFill>
            <a:srgbClr val="101D39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F472B6"/>
                </a:solidFill>
                <a:latin typeface="Aptos"/>
              </a:rPr>
              <a:t>WASPADA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80360"/>
            <a:ext cx="40233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F5F8FF"/>
                </a:solidFill>
                <a:latin typeface="Aptos"/>
              </a:rPr>
              <a:t>Lupa memperbarui variabel dapat menyebabkan infinite loop.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10149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FACC15"/>
                </a:solidFill>
                <a:latin typeface="Aptos"/>
              </a:rPr>
              <a:t>Tips: pastikan kondisi berhenti jelas dan uji program dengan beberapa nilai.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 i="0">
                <a:solidFill>
                  <a:srgbClr val="2DD4EB"/>
                </a:solidFill>
                <a:latin typeface="Aptos"/>
              </a:rPr>
              <a:t>12 / RANGKUMAN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71323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 i="0">
                <a:solidFill>
                  <a:srgbClr val="F5F8FF"/>
                </a:solidFill>
                <a:latin typeface="Aptos"/>
              </a:rPr>
              <a:t>Kesimpulan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89888"/>
            <a:ext cx="77724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65960"/>
            <a:ext cx="27432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2DD4EB"/>
                </a:solidFill>
                <a:latin typeface="Aptos"/>
              </a:rPr>
              <a:t>WHILE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43891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F5F8FF"/>
                </a:solidFill>
                <a:latin typeface="Aptos"/>
              </a:rPr>
              <a:t>Mengulang blok kode selama kondisi bernilai True.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874519"/>
            <a:ext cx="5120640" cy="3154680"/>
          </a:xfrm>
          <a:prstGeom prst="roundRect">
            <a:avLst/>
          </a:prstGeom>
          <a:solidFill>
            <a:srgbClr val="101D39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2331720"/>
            <a:ext cx="4206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2DD4EB"/>
                </a:solidFill>
                <a:latin typeface="Aptos"/>
              </a:rPr>
              <a:t>Periksa kondisi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97480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ACBBD3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90672"/>
            <a:ext cx="4206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F5F8FF"/>
                </a:solidFill>
                <a:latin typeface="Aptos"/>
              </a:rPr>
              <a:t>Jalankan blok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456432"/>
            <a:ext cx="457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ACBBD3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42062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8B5CF6"/>
                </a:solidFill>
                <a:latin typeface="Aptos"/>
              </a:rPr>
              <a:t>Perbarui keadaan → ulangi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378440" y="-777240"/>
            <a:ext cx="2468880" cy="2468880"/>
          </a:xfrm>
          <a:prstGeom prst="ellipse">
            <a:avLst/>
          </a:prstGeom>
          <a:solidFill>
            <a:srgbClr val="10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81360" y="-274320"/>
            <a:ext cx="1463040" cy="1463040"/>
          </a:xfrm>
          <a:prstGeom prst="ellipse">
            <a:avLst/>
          </a:prstGeom>
          <a:solidFill>
            <a:srgbClr val="0A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4114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DD4EB"/>
                </a:solidFill>
                <a:latin typeface="Aptos"/>
              </a:rPr>
              <a:t>SESI DISKUSI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 i="0">
                <a:solidFill>
                  <a:srgbClr val="F5F8FF"/>
                </a:solidFill>
                <a:latin typeface="Aptos"/>
              </a:rP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5943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ACBBD3"/>
                </a:solidFill>
                <a:latin typeface="Aptos"/>
              </a:rPr>
              <a:t>Perulangan While  •  Algoritma &amp; Pemrograman</a:t>
            </a:r>
          </a:p>
        </p:txBody>
      </p:sp>
      <p:sp>
        <p:nvSpPr>
          <p:cNvPr id="9" name="Oval 8"/>
          <p:cNvSpPr/>
          <p:nvPr/>
        </p:nvSpPr>
        <p:spPr>
          <a:xfrm>
            <a:off x="7589520" y="1508760"/>
            <a:ext cx="2926080" cy="2926080"/>
          </a:xfrm>
          <a:prstGeom prst="ellipse">
            <a:avLst/>
          </a:prstGeom>
          <a:solidFill>
            <a:srgbClr val="101D39"/>
          </a:solidFill>
          <a:ln>
            <a:solidFill>
              <a:srgbClr val="2DD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92440" y="2011680"/>
            <a:ext cx="1920240" cy="1920240"/>
          </a:xfrm>
          <a:prstGeom prst="ellipse">
            <a:avLst/>
          </a:prstGeom>
          <a:solidFill>
            <a:srgbClr val="0A12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423160"/>
            <a:ext cx="155448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 i="0">
                <a:solidFill>
                  <a:srgbClr val="2DD4EB"/>
                </a:solidFill>
                <a:latin typeface="Consolas"/>
              </a:rPr>
              <a:t>while
True: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201400" cy="10972"/>
          </a:xfrm>
          <a:prstGeom prst="rect">
            <a:avLst/>
          </a:prstGeom>
          <a:solidFill>
            <a:srgbClr val="2DD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6510528"/>
            <a:ext cx="7315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1" i="0">
                <a:solidFill>
                  <a:srgbClr val="ACBBD3"/>
                </a:solidFill>
                <a:latin typeface="Aptos"/>
              </a:rPr>
              <a:t>ALGORITMA &amp; PEMROGRAMAN   •   PERULANGAN WHILE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92240"/>
            <a:ext cx="5029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 i="0">
                <a:solidFill>
                  <a:srgbClr val="2DD4E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524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Computer</cp:lastModifiedBy>
  <cp:revision>8</cp:revision>
  <dcterms:created xsi:type="dcterms:W3CDTF">2013-01-27T09:14:16Z</dcterms:created>
  <dcterms:modified xsi:type="dcterms:W3CDTF">2026-10-15T11:20:47Z</dcterms:modified>
  <cp:category/>
</cp:coreProperties>
</file>